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290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2A52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4389120"/>
            <a:ext cx="4572000" cy="4572000"/>
          </a:xfrm>
          <a:prstGeom prst="ellipse">
            <a:avLst/>
          </a:prstGeom>
          <a:solidFill>
            <a:srgbClr val="E8843A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8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INTERNSHIP REPORT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Automating the </a:t>
            </a:r>
            <a:r>
              <a:rPr lang="en-US" sz="4400" b="1" dirty="0">
                <a:solidFill>
                  <a:srgbClr val="8FD4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Management System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206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Yash Agarwal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466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23119039  •  ECE, JIIT Noida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074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8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at Stratbeans Consulting (Remote)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2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2A52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931920"/>
            <a:ext cx="4572000" cy="45720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331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E88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78892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Bridging Theory and Enterprise Practice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965960" y="3977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 gap between conceptual software theory and large-scale enterprise engineering solutions.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STRATBEANS CONSULTING  |  SUMMER INTERNSHIP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Empowering </a:t>
            </a: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Learning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989320" cy="489204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AC2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645920"/>
            <a:ext cx="5349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3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Stratbeans Consulting</a:t>
            </a: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architects digital learning ecosystems designed for organizations that demand scalable, structured training solutions.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29718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excels across multiple facets of enterprise education, specializing in: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3611880"/>
            <a:ext cx="128016" cy="128016"/>
          </a:xfrm>
          <a:prstGeom prst="ellipse">
            <a:avLst/>
          </a:prstGeom>
          <a:solidFill>
            <a:srgbClr val="E8843A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4930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LMS deployment &amp; architecture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4114800"/>
            <a:ext cx="128016" cy="128016"/>
          </a:xfrm>
          <a:prstGeom prst="ellipse">
            <a:avLst/>
          </a:prstGeom>
          <a:solidFill>
            <a:srgbClr val="E8843A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9959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content authoring &amp; active engagement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68680" y="4617720"/>
            <a:ext cx="128016" cy="128016"/>
          </a:xfrm>
          <a:prstGeom prst="ellipse">
            <a:avLst/>
          </a:prstGeom>
          <a:solidFill>
            <a:srgbClr val="E8843A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4988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 and predictive assessments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68680" y="516636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132A52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523036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remote internship focused on dissecting platform architecture and engineering improvements for UI/UX and backend modules.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903720" y="1371600"/>
            <a:ext cx="4754880" cy="4892040"/>
          </a:xfrm>
          <a:prstGeom prst="roundRect">
            <a:avLst>
              <a:gd name="adj" fmla="val 2308"/>
            </a:avLst>
          </a:prstGeom>
          <a:solidFill>
            <a:srgbClr val="132A52"/>
          </a:solidFill>
          <a:ln/>
        </p:spPr>
      </p:sp>
      <p:sp>
        <p:nvSpPr>
          <p:cNvPr id="15" name="Shape 13"/>
          <p:cNvSpPr/>
          <p:nvPr/>
        </p:nvSpPr>
        <p:spPr>
          <a:xfrm>
            <a:off x="7360920" y="182880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0" descr="/home/claude/lms_deck/icons/gradc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8664" y="2066544"/>
            <a:ext cx="438912" cy="43891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412480" y="1874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E-Learning in</a:t>
            </a:r>
            <a:endParaRPr lang="en-US" sz="1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Education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7360920" y="2880360"/>
            <a:ext cx="38404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60920" y="3154680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1E3A63"/>
          </a:solidFill>
          <a:ln/>
        </p:spPr>
      </p:sp>
      <p:sp>
        <p:nvSpPr>
          <p:cNvPr id="20" name="Text 17"/>
          <p:cNvSpPr/>
          <p:nvPr/>
        </p:nvSpPr>
        <p:spPr>
          <a:xfrm>
            <a:off x="7589520" y="320954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LMS Architecture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7360920" y="3813048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1E3A63"/>
          </a:solidFill>
          <a:ln/>
        </p:spPr>
      </p:sp>
      <p:sp>
        <p:nvSpPr>
          <p:cNvPr id="22" name="Text 19"/>
          <p:cNvSpPr/>
          <p:nvPr/>
        </p:nvSpPr>
        <p:spPr>
          <a:xfrm>
            <a:off x="7589520" y="386791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Authoring Tools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7360920" y="4471416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1E3A63"/>
          </a:solidFill>
          <a:ln/>
        </p:spPr>
      </p:sp>
      <p:sp>
        <p:nvSpPr>
          <p:cNvPr id="24" name="Text 21"/>
          <p:cNvSpPr/>
          <p:nvPr/>
        </p:nvSpPr>
        <p:spPr>
          <a:xfrm>
            <a:off x="7589520" y="452628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Engine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7360920" y="5129784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1E3A63"/>
          </a:solidFill>
          <a:ln/>
        </p:spPr>
      </p:sp>
      <p:sp>
        <p:nvSpPr>
          <p:cNvPr id="26" name="Text 23"/>
          <p:cNvSpPr/>
          <p:nvPr/>
        </p:nvSpPr>
        <p:spPr>
          <a:xfrm>
            <a:off x="7589520" y="518464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Scale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STRATBEANS CONSULTING  |  SUMMER INTERNSHIP 2026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Need for </a:t>
            </a: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Scalability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4206240" cy="42062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88036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188720" y="37947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kern="0" spc="100" dirty="0">
                <a:solidFill>
                  <a:srgbClr val="E88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kern="0" spc="100" dirty="0">
                <a:solidFill>
                  <a:srgbClr val="E88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0" y="2011680"/>
            <a:ext cx="617220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AC2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52160" y="2331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Unified Learning Delivery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852160" y="28803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organizations require a structured mechanism to onboard, train, and monitor thousands of employees seamlessly.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852160" y="374904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LMS acts as the central nervous system, connecting learners, course data, enrollments, and progress analytics into one unified application.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STRATBEANS CONSULTING  |  SUMMER INTERNSHIP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Internship </a:t>
            </a: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10996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AC2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609344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lms_deck/icons/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1" y="1775765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54533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I. Architecture &amp; Setup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783080" y="1920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local environments and deconstruct legacy PHP modules and shared structures.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624328"/>
            <a:ext cx="1110996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AC2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68680" y="281635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/home/claude/lms_deck/icons/laptop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101" y="2982773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83080" y="275234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II. Frontend UI/UX Overhaul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783080" y="312724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Revamp dynamic learner dashboards and forms to guarantee highly responsive layouts.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831336"/>
            <a:ext cx="1110996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AC2">
                <a:alpha val="3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68680" y="40233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2" descr="/home/claude/lms_deck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101" y="418978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83080" y="39593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III. Backend Logic &amp; Workflows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783080" y="433425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and refine form validations, access control, and database mapping for enrollments.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48640" y="5038344"/>
            <a:ext cx="1110996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AC2">
                <a:alpha val="3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68680" y="5230368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3" descr="/home/claude/lms_deck/icons/rob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101" y="5396789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783080" y="51663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IV. AI &amp; Analytics Readiness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1783080" y="554126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data pipelines for learning analytics and map conversational AI chatbot flows.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STRATBEANS CONSULTING  |  SUMMER INTERNSHIP 2026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2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2A52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931920"/>
            <a:ext cx="4572000" cy="45720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331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E88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78892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Tech Engine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965960" y="3977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technologies, languages, and software engineering principles driving the LMS development process.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STRATBEANS CONSULTING  |  SUMMER INTERNSHIP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Blocks </a:t>
            </a: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the LMS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6616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AC2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3736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lms_deck/icons/laptop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650" y="195133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468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Architecture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2971800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Leveraged HTML5 and modern CSS3 to structure responsive layouts and polish visual UI components.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89120" y="1417320"/>
            <a:ext cx="356616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AC2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09160" y="1737360"/>
            <a:ext cx="822960" cy="822960"/>
          </a:xfrm>
          <a:prstGeom prst="ellipse">
            <a:avLst/>
          </a:prstGeom>
          <a:solidFill>
            <a:srgbClr val="E8843A"/>
          </a:solidFill>
          <a:ln/>
        </p:spPr>
      </p:sp>
      <p:pic>
        <p:nvPicPr>
          <p:cNvPr id="10" name="Image 1" descr="/home/claude/lms_deck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3130" y="1951330"/>
            <a:ext cx="395021" cy="39502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09160" y="2468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Infrastructure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709160" y="2971800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and XAMPP powered the local server environment, handling dynamic requests and MySQL operations.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229600" y="1417320"/>
            <a:ext cx="356616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AC2">
                <a:alpha val="3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549640" y="173736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2" descr="/home/claude/lms_deck/icons/codebran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610" y="1951330"/>
            <a:ext cx="395021" cy="39502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49640" y="2468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&amp; Control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549640" y="2971800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ensured robust version control while VS Code served as the primary command center for development.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STRATBEANS CONSULTING  |  SUMMER INTERNSHIP 2026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Engineering </a:t>
            </a: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66160" cy="37947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AC2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3736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lms_deck/icons/cub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650" y="195133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468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Modularity First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297180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segmented into distinct modules (Users, Analytics, Auth), allowing targeted feature updates without crashing unrelated systems.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89120" y="1417320"/>
            <a:ext cx="3566160" cy="37947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AC2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09160" y="173736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/home/claude/lms_deck/icons/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3130" y="1951330"/>
            <a:ext cx="395021" cy="39502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09160" y="2468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Strict Maintainability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709160" y="297180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clean, readable code is mandatory. Following existing coding patterns ensures future developers can scale the enterprise software easily.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229600" y="1417320"/>
            <a:ext cx="3566160" cy="37947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AC2">
                <a:alpha val="3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549640" y="173736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2" descr="/home/claude/lms_deck/icons/handpoin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610" y="1951330"/>
            <a:ext cx="395021" cy="39502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49640" y="2468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Frictionless Usability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549640" y="297180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brilliance fails if the UI is confusing. Proper spacing, visual hierarchy, and intuitive navigation define a successful deployment.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STRATBEANS CONSULTING  |  SUMMER INTERNSHIP 2026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2A52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931920"/>
            <a:ext cx="4572000" cy="45720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331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E88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78892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Methodology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965960" y="3977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iterative methodology to decode, modify, and enhance a live enterprise codebase.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STRATBEANS CONSULTING  |  SUMMER INTERNSHIP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Development </a:t>
            </a: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Journey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" y="3703320"/>
            <a:ext cx="1014984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07108" y="3447288"/>
            <a:ext cx="512064" cy="512064"/>
          </a:xfrm>
          <a:prstGeom prst="ellipse">
            <a:avLst/>
          </a:prstGeom>
          <a:solidFill>
            <a:srgbClr val="132A5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07108" y="3447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5840" y="1554480"/>
            <a:ext cx="25146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AC2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07108" y="1719072"/>
            <a:ext cx="512064" cy="512064"/>
          </a:xfrm>
          <a:prstGeom prst="ellipse">
            <a:avLst/>
          </a:prstGeom>
          <a:solidFill>
            <a:srgbClr val="E8843A"/>
          </a:solidFill>
          <a:ln/>
        </p:spPr>
      </p:sp>
      <p:pic>
        <p:nvPicPr>
          <p:cNvPr id="8" name="Image 0" descr="/home/claude/lms_deck/icons/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0245" y="1852209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" y="228600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Environment Setup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15568" y="2633472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VS Code, Git, XAMPP, and PHP. Documented exact deployment steps.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52188" y="3447288"/>
            <a:ext cx="512064" cy="512064"/>
          </a:xfrm>
          <a:prstGeom prst="ellipse">
            <a:avLst/>
          </a:prstGeom>
          <a:solidFill>
            <a:srgbClr val="132A5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52188" y="3447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550920" y="4206240"/>
            <a:ext cx="25146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AC2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52188" y="4370832"/>
            <a:ext cx="512064" cy="512064"/>
          </a:xfrm>
          <a:prstGeom prst="ellipse">
            <a:avLst/>
          </a:prstGeom>
          <a:solidFill>
            <a:srgbClr val="E8843A"/>
          </a:solidFill>
          <a:ln/>
        </p:spPr>
      </p:sp>
      <p:pic>
        <p:nvPicPr>
          <p:cNvPr id="15" name="Image 1" descr="/home/claude/lms_deck/icons/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5325" y="4503969"/>
            <a:ext cx="245791" cy="24579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60648" y="493776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Codebase Dissection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3660648" y="5285232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Engaged in knowledge transfer sessions to map out folder structures and APIs.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7097268" y="3447288"/>
            <a:ext cx="512064" cy="512064"/>
          </a:xfrm>
          <a:prstGeom prst="ellipse">
            <a:avLst/>
          </a:prstGeom>
          <a:solidFill>
            <a:srgbClr val="132A5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097268" y="3447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096000" y="1554480"/>
            <a:ext cx="25146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AC2">
                <a:alpha val="3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097268" y="1719072"/>
            <a:ext cx="512064" cy="512064"/>
          </a:xfrm>
          <a:prstGeom prst="ellipse">
            <a:avLst/>
          </a:prstGeom>
          <a:solidFill>
            <a:srgbClr val="E8843A"/>
          </a:solidFill>
          <a:ln/>
        </p:spPr>
      </p:sp>
      <p:pic>
        <p:nvPicPr>
          <p:cNvPr id="22" name="Image 2" descr="/home/claude/lms_deck/icons/synca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0405" y="1852209"/>
            <a:ext cx="245791" cy="245791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05728" y="228600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Iterative Build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6205728" y="2633472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UI bottlenecks, implemented fixes, and aligned new code with legacy styles.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9642348" y="3447288"/>
            <a:ext cx="512064" cy="512064"/>
          </a:xfrm>
          <a:prstGeom prst="ellipse">
            <a:avLst/>
          </a:prstGeom>
          <a:solidFill>
            <a:srgbClr val="132A5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9642348" y="3447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8641080" y="4206240"/>
            <a:ext cx="25146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AC2">
                <a:alpha val="3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9642348" y="4370832"/>
            <a:ext cx="512064" cy="512064"/>
          </a:xfrm>
          <a:prstGeom prst="ellipse">
            <a:avLst/>
          </a:prstGeom>
          <a:solidFill>
            <a:srgbClr val="E8843A"/>
          </a:solidFill>
          <a:ln/>
        </p:spPr>
      </p:sp>
      <p:pic>
        <p:nvPicPr>
          <p:cNvPr id="29" name="Image 3" descr="/home/claude/lms_deck/icons/flagchecke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5485" y="4503969"/>
            <a:ext cx="245791" cy="245791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750808" y="493776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Testing &amp; Review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8750808" y="5285232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Conducted rigorous responsive testing and rapidly iterated on feedback.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STRATBEANS CONSULTING  |  SUMMER INTERNSHIP 2026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2A52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931920"/>
            <a:ext cx="4572000" cy="45720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331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E88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78892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Revamping the Frontend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965960" y="3977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navigation, visual hierarchy, and cross-device consistency for learners and admins.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STRATBEANS CONSULTING  |  SUMMER INTERNSHIP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Optimizing the </a:t>
            </a: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Learner Hub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406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AC2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7373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lms_deck/icons/tachome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" y="1927555"/>
            <a:ext cx="351130" cy="3511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810512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2697480"/>
            <a:ext cx="4709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is the heartbeat of the learner journey. I audited how users track active courses, read progress rings, and click primary calls-to-action.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re-engineering widget spacing, improving typography contrast, and aligning elements, we eliminated friction and made critical data instantly scannable.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309360" y="1417320"/>
            <a:ext cx="54406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AC2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675120" y="17373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/home/claude/lms_deck/icons/clipboardl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5315" y="1927555"/>
            <a:ext cx="351130" cy="3511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89520" y="1810512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Streamlined Workflows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675120" y="2697480"/>
            <a:ext cx="4709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creation forms are used heavily by administrators. Clunky form layouts significantly damage operational speed.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enforced a consistent UI design language across multiple management pages, standardizing input fields and button placements to reduce cognitive load.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STRATBEANS CONSULTING  |  SUMMER INTERNSHIP 2026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Seamless Across </a:t>
            </a: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Devices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03504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AC2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6916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Flawless Responsive UI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8680" y="219456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educational platform must adapt dynamically to desktop monitors, tablets, and mobile screens without hiding vital data.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3255264"/>
            <a:ext cx="128016" cy="128016"/>
          </a:xfrm>
          <a:prstGeom prst="ellipse">
            <a:avLst/>
          </a:prstGeom>
          <a:solidFill>
            <a:srgbClr val="E8843A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14553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 comprehensive cross-breakpoint testing.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3822192"/>
            <a:ext cx="128016" cy="128016"/>
          </a:xfrm>
          <a:prstGeom prst="ellipse">
            <a:avLst/>
          </a:prstGeom>
          <a:solidFill>
            <a:srgbClr val="E8843A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71246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Re-wrote CSS media queries for fluid flexbox layouts.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4389120"/>
            <a:ext cx="128016" cy="128016"/>
          </a:xfrm>
          <a:prstGeom prst="ellipse">
            <a:avLst/>
          </a:prstGeom>
          <a:solidFill>
            <a:srgbClr val="E8843A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27939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Ensured buttons remained thumb-friendly on mobile.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5074920"/>
            <a:ext cx="5394960" cy="685800"/>
          </a:xfrm>
          <a:prstGeom prst="roundRect">
            <a:avLst>
              <a:gd name="adj" fmla="val 13333"/>
            </a:avLst>
          </a:prstGeom>
          <a:solidFill>
            <a:srgbClr val="132A52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512064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responsiveness guarantees the platform's aesthetic translates perfectly everywhere.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0" y="1417320"/>
            <a:ext cx="4800600" cy="4480560"/>
          </a:xfrm>
          <a:prstGeom prst="roundRect">
            <a:avLst>
              <a:gd name="adj" fmla="val 2449"/>
            </a:avLst>
          </a:prstGeom>
          <a:solidFill>
            <a:srgbClr val="132A52"/>
          </a:solidFill>
          <a:ln/>
        </p:spPr>
      </p:sp>
      <p:sp>
        <p:nvSpPr>
          <p:cNvPr id="15" name="Shape 13"/>
          <p:cNvSpPr/>
          <p:nvPr/>
        </p:nvSpPr>
        <p:spPr>
          <a:xfrm>
            <a:off x="8778240" y="1828800"/>
            <a:ext cx="914400" cy="914400"/>
          </a:xfrm>
          <a:prstGeom prst="ellipse">
            <a:avLst/>
          </a:prstGeom>
          <a:solidFill>
            <a:srgbClr val="E8843A"/>
          </a:solidFill>
          <a:ln/>
        </p:spPr>
      </p:sp>
      <p:pic>
        <p:nvPicPr>
          <p:cNvPr id="16" name="Image 0" descr="/home/claude/lms_deck/icons/mobilea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5984" y="2066544"/>
            <a:ext cx="438912" cy="438912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7223760" y="3108960"/>
            <a:ext cx="4069080" cy="621792"/>
          </a:xfrm>
          <a:prstGeom prst="roundRect">
            <a:avLst>
              <a:gd name="adj" fmla="val 11765"/>
            </a:avLst>
          </a:prstGeom>
          <a:solidFill>
            <a:srgbClr val="1E3A63"/>
          </a:solidFill>
          <a:ln/>
        </p:spPr>
      </p:sp>
      <p:sp>
        <p:nvSpPr>
          <p:cNvPr id="18" name="Text 15"/>
          <p:cNvSpPr/>
          <p:nvPr/>
        </p:nvSpPr>
        <p:spPr>
          <a:xfrm>
            <a:off x="7452360" y="3163824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 —  full multi-column layout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452360" y="343814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D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8.0in +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223760" y="3886200"/>
            <a:ext cx="4069080" cy="621792"/>
          </a:xfrm>
          <a:prstGeom prst="roundRect">
            <a:avLst>
              <a:gd name="adj" fmla="val 11765"/>
            </a:avLst>
          </a:prstGeom>
          <a:solidFill>
            <a:srgbClr val="1E3A63"/>
          </a:solidFill>
          <a:ln/>
        </p:spPr>
      </p:sp>
      <p:sp>
        <p:nvSpPr>
          <p:cNvPr id="21" name="Text 18"/>
          <p:cNvSpPr/>
          <p:nvPr/>
        </p:nvSpPr>
        <p:spPr>
          <a:xfrm>
            <a:off x="7452360" y="3941064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  —  fluid two-column stacking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452360" y="421538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D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7.5–11.9in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223760" y="4663440"/>
            <a:ext cx="4069080" cy="621792"/>
          </a:xfrm>
          <a:prstGeom prst="roundRect">
            <a:avLst>
              <a:gd name="adj" fmla="val 11765"/>
            </a:avLst>
          </a:prstGeom>
          <a:solidFill>
            <a:srgbClr val="1E3A63"/>
          </a:solidFill>
          <a:ln/>
        </p:spPr>
      </p:sp>
      <p:sp>
        <p:nvSpPr>
          <p:cNvPr id="24" name="Text 21"/>
          <p:cNvSpPr/>
          <p:nvPr/>
        </p:nvSpPr>
        <p:spPr>
          <a:xfrm>
            <a:off x="7452360" y="4718304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 —  single-column, thumb zones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452360" y="499262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D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7.5in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STRATBEANS CONSULTING  |  SUMMER INTERNSHIP 2026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2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2A52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931920"/>
            <a:ext cx="4572000" cy="45720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331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E88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78892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Powering the Backend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965960" y="3977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the PHP server architecture, data pipelines, and database logic powering the frontend UI.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STRATBEANS CONSULTING  |  SUMMER INTERNSHIP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Management &amp; </a:t>
            </a: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Enrollment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66160" cy="37947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AC2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3736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lms_deck/icons/shielda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650" y="195133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468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&amp; Security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297180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Traced the logic for user registration, input validation, and role-based access control (Learner vs. Admin) to guarantee secure platform usage.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89120" y="1417320"/>
            <a:ext cx="3566160" cy="37947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AC2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09160" y="173736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/home/claude/lms_deck/icons/gradc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3130" y="1951330"/>
            <a:ext cx="395021" cy="39502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09160" y="2468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Enrollment Logic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709160" y="297180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Dissected the database mapping that links a user to a specific course ID, including safeguards against duplicate enrollments.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229600" y="1417320"/>
            <a:ext cx="3566160" cy="37947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AC2">
                <a:alpha val="3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549640" y="173736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2" descr="/home/claude/lms_deck/icons/projectdiag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610" y="1951330"/>
            <a:ext cx="395021" cy="39502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49640" y="2468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Pipelines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549640" y="297180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deep insights into how a single button click on the frontend triggers cascading API calls, server validations, and database writes.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STRATBEANS CONSULTING  |  SUMMER INTERNSHIP 2026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Tracking Progress &amp; </a:t>
            </a: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03504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AC2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6916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lms_deck/icons/chart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1" y="185806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7830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Progress Engine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51460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the PHP controllers responsible for calculating completion percentages. These scripts listen for video views or quiz submissions and instantly update the database, feeding live data to the UI widgets.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68680" y="4114800"/>
            <a:ext cx="640080" cy="640080"/>
          </a:xfrm>
          <a:prstGeom prst="ellipse">
            <a:avLst/>
          </a:prstGeom>
          <a:solidFill>
            <a:srgbClr val="E8843A"/>
          </a:solidFill>
          <a:ln/>
        </p:spPr>
      </p:sp>
      <p:pic>
        <p:nvPicPr>
          <p:cNvPr id="9" name="Image 1" descr="/home/claude/lms_deck/icons/layergro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101" y="428122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45920" y="42062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Actionable Analytics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68680" y="48920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how raw activity logs are transformed into executive-level dashboards. Proper data presentation allows training managers to quickly spot drop-off points and overall course engagement.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858000" y="1417320"/>
            <a:ext cx="4800600" cy="4480560"/>
          </a:xfrm>
          <a:prstGeom prst="roundRect">
            <a:avLst>
              <a:gd name="adj" fmla="val 2449"/>
            </a:avLst>
          </a:prstGeom>
          <a:solidFill>
            <a:srgbClr val="132A52"/>
          </a:solidFill>
          <a:ln/>
        </p:spPr>
      </p:sp>
      <p:sp>
        <p:nvSpPr>
          <p:cNvPr id="13" name="Text 9"/>
          <p:cNvSpPr/>
          <p:nvPr/>
        </p:nvSpPr>
        <p:spPr>
          <a:xfrm>
            <a:off x="7178040" y="1645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8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COURSE METRICS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178040" y="214884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1E3A63"/>
          </a:solidFill>
          <a:ln/>
        </p:spPr>
      </p:sp>
      <p:sp>
        <p:nvSpPr>
          <p:cNvPr id="15" name="Text 11"/>
          <p:cNvSpPr/>
          <p:nvPr/>
        </p:nvSpPr>
        <p:spPr>
          <a:xfrm>
            <a:off x="7315200" y="225856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7315200" y="2926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D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Live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9326880" y="214884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1E3A63"/>
          </a:solidFill>
          <a:ln/>
        </p:spPr>
      </p:sp>
      <p:sp>
        <p:nvSpPr>
          <p:cNvPr id="18" name="Text 14"/>
          <p:cNvSpPr/>
          <p:nvPr/>
        </p:nvSpPr>
        <p:spPr>
          <a:xfrm>
            <a:off x="9464040" y="225856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3000" dirty="0"/>
          </a:p>
        </p:txBody>
      </p:sp>
      <p:sp>
        <p:nvSpPr>
          <p:cNvPr id="19" name="Text 15"/>
          <p:cNvSpPr/>
          <p:nvPr/>
        </p:nvSpPr>
        <p:spPr>
          <a:xfrm>
            <a:off x="9464040" y="2926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D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Hours Logged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7178040" y="356616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1E3A63"/>
          </a:solidFill>
          <a:ln/>
        </p:spPr>
      </p:sp>
      <p:sp>
        <p:nvSpPr>
          <p:cNvPr id="21" name="Text 17"/>
          <p:cNvSpPr/>
          <p:nvPr/>
        </p:nvSpPr>
        <p:spPr>
          <a:xfrm>
            <a:off x="7315200" y="367588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2" name="Text 18"/>
          <p:cNvSpPr/>
          <p:nvPr/>
        </p:nvSpPr>
        <p:spPr>
          <a:xfrm>
            <a:off x="7315200" y="4343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D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Enrollments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9326880" y="356616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1E3A63"/>
          </a:solidFill>
          <a:ln/>
        </p:spPr>
      </p:sp>
      <p:sp>
        <p:nvSpPr>
          <p:cNvPr id="24" name="Text 20"/>
          <p:cNvSpPr/>
          <p:nvPr/>
        </p:nvSpPr>
        <p:spPr>
          <a:xfrm>
            <a:off x="9464040" y="367588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5" name="Text 21"/>
          <p:cNvSpPr/>
          <p:nvPr/>
        </p:nvSpPr>
        <p:spPr>
          <a:xfrm>
            <a:off x="9464040" y="4343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D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Generated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7178040" y="50749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completion trend: steady week-over-week growth in learner engagement.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STRATBEANS CONSULTING  |  SUMMER INTERNSHIP 2026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Course </a:t>
            </a: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4480560" cy="3840480"/>
          </a:xfrm>
          <a:prstGeom prst="roundRect">
            <a:avLst>
              <a:gd name="adj" fmla="val 2857"/>
            </a:avLst>
          </a:prstGeom>
          <a:solidFill>
            <a:srgbClr val="132A52"/>
          </a:solidFill>
          <a:ln/>
        </p:spPr>
      </p:sp>
      <p:sp>
        <p:nvSpPr>
          <p:cNvPr id="4" name="Shape 2"/>
          <p:cNvSpPr/>
          <p:nvPr/>
        </p:nvSpPr>
        <p:spPr>
          <a:xfrm>
            <a:off x="2331720" y="2286000"/>
            <a:ext cx="914400" cy="914400"/>
          </a:xfrm>
          <a:prstGeom prst="ellipse">
            <a:avLst/>
          </a:prstGeom>
          <a:solidFill>
            <a:srgbClr val="E8843A"/>
          </a:solidFill>
          <a:ln/>
        </p:spPr>
      </p:sp>
      <p:pic>
        <p:nvPicPr>
          <p:cNvPr id="5" name="Image 0" descr="/home/claude/lms_deck/icons/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9464" y="252374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34290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RULE-BASED</a:t>
            </a:r>
            <a:endParaRPr lang="en-US" sz="2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77240" y="42976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9D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Activity  →  Course Tags  →  Suggestions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257800" y="1737360"/>
            <a:ext cx="64008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AC2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577840" y="20116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Algorithm-Driven Discovery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5577840" y="256032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LMS shouldn't just host content; it should actively guide the user. I explored rule-based algorithms designed to curate content dynamically.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577840" y="365760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mapping historical learner activity against available course tags, the system generates hyper-relevant dashboard suggestions. This dramatically increases course discovery and continuous engagement.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STRATBEANS CONSULTING  |  SUMMER INTERNSHIP 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</a:t>
            </a: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Assistant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03504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AC2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6916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lms_deck/icons/com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1" y="185806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7830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Conversational Flows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68680" y="25146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Assisted in the architectural planning for an integrated Learning Assistant Chatbot to handle Tier-1 support.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68680" y="3429000"/>
            <a:ext cx="128016" cy="128016"/>
          </a:xfrm>
          <a:prstGeom prst="ellipse">
            <a:avLst/>
          </a:prstGeom>
          <a:solidFill>
            <a:srgbClr val="E8843A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331012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out decision trees for common queries.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68680" y="3931920"/>
            <a:ext cx="128016" cy="128016"/>
          </a:xfrm>
          <a:prstGeom prst="ellipse">
            <a:avLst/>
          </a:prstGeom>
          <a:solidFill>
            <a:srgbClr val="E8843A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381304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Drafted conversational prompts that are actionable.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68680" y="4434840"/>
            <a:ext cx="128016" cy="128016"/>
          </a:xfrm>
          <a:prstGeom prst="ellipse">
            <a:avLst/>
          </a:prstGeom>
          <a:solidFill>
            <a:srgbClr val="E8843A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431596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UX flows to deep-link users directly to portal pages.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68680" y="5029200"/>
            <a:ext cx="5394960" cy="731520"/>
          </a:xfrm>
          <a:prstGeom prst="roundRect">
            <a:avLst>
              <a:gd name="adj" fmla="val 12500"/>
            </a:avLst>
          </a:prstGeom>
          <a:solidFill>
            <a:srgbClr val="132A52"/>
          </a:solidFill>
          <a:ln/>
        </p:spPr>
      </p:sp>
      <p:sp>
        <p:nvSpPr>
          <p:cNvPr id="15" name="Text 12"/>
          <p:cNvSpPr/>
          <p:nvPr/>
        </p:nvSpPr>
        <p:spPr>
          <a:xfrm>
            <a:off x="1097280" y="5084064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routine inquiries drastically reduces the workload on HR.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858000" y="1417320"/>
            <a:ext cx="4800600" cy="4480560"/>
          </a:xfrm>
          <a:prstGeom prst="roundRect">
            <a:avLst>
              <a:gd name="adj" fmla="val 2449"/>
            </a:avLst>
          </a:prstGeom>
          <a:solidFill>
            <a:srgbClr val="132A52"/>
          </a:solidFill>
          <a:ln/>
        </p:spPr>
      </p:sp>
      <p:sp>
        <p:nvSpPr>
          <p:cNvPr id="17" name="Shape 14"/>
          <p:cNvSpPr/>
          <p:nvPr/>
        </p:nvSpPr>
        <p:spPr>
          <a:xfrm>
            <a:off x="7178040" y="1737360"/>
            <a:ext cx="3566160" cy="822960"/>
          </a:xfrm>
          <a:prstGeom prst="roundRect">
            <a:avLst>
              <a:gd name="adj" fmla="val 15556"/>
            </a:avLst>
          </a:prstGeom>
          <a:solidFill>
            <a:srgbClr val="1E3A63"/>
          </a:solidFill>
          <a:ln/>
        </p:spPr>
      </p:sp>
      <p:sp>
        <p:nvSpPr>
          <p:cNvPr id="18" name="Text 15"/>
          <p:cNvSpPr/>
          <p:nvPr/>
        </p:nvSpPr>
        <p:spPr>
          <a:xfrm>
            <a:off x="7360920" y="181051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enroll in the Python course?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01000" y="2770632"/>
            <a:ext cx="3566160" cy="822960"/>
          </a:xfrm>
          <a:prstGeom prst="roundRect">
            <a:avLst>
              <a:gd name="adj" fmla="val 15556"/>
            </a:avLst>
          </a:prstGeom>
          <a:solidFill>
            <a:srgbClr val="1C7293"/>
          </a:solidFill>
          <a:ln/>
        </p:spPr>
      </p:sp>
      <p:sp>
        <p:nvSpPr>
          <p:cNvPr id="20" name="Text 17"/>
          <p:cNvSpPr/>
          <p:nvPr/>
        </p:nvSpPr>
        <p:spPr>
          <a:xfrm>
            <a:off x="8183880" y="2843784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take you straight to enrollment — one click away.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178040" y="3803904"/>
            <a:ext cx="3566160" cy="822960"/>
          </a:xfrm>
          <a:prstGeom prst="roundRect">
            <a:avLst>
              <a:gd name="adj" fmla="val 15556"/>
            </a:avLst>
          </a:prstGeom>
          <a:solidFill>
            <a:srgbClr val="1E3A63"/>
          </a:solidFill>
          <a:ln/>
        </p:spPr>
      </p:sp>
      <p:sp>
        <p:nvSpPr>
          <p:cNvPr id="22" name="Text 19"/>
          <p:cNvSpPr/>
          <p:nvPr/>
        </p:nvSpPr>
        <p:spPr>
          <a:xfrm>
            <a:off x="7360920" y="3877056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can I see my certificate?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001000" y="4837176"/>
            <a:ext cx="3566160" cy="822960"/>
          </a:xfrm>
          <a:prstGeom prst="roundRect">
            <a:avLst>
              <a:gd name="adj" fmla="val 15556"/>
            </a:avLst>
          </a:prstGeom>
          <a:solidFill>
            <a:srgbClr val="1C7293"/>
          </a:solidFill>
          <a:ln/>
        </p:spPr>
      </p:sp>
      <p:sp>
        <p:nvSpPr>
          <p:cNvPr id="24" name="Text 21"/>
          <p:cNvSpPr/>
          <p:nvPr/>
        </p:nvSpPr>
        <p:spPr>
          <a:xfrm>
            <a:off x="8183880" y="491032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certificates are in the Achievements tab.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STRATBEANS CONSULTING  |  SUMMER INTERNSHIP 2026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32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2A52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931920"/>
            <a:ext cx="4572000" cy="45720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331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E88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78892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&amp; Takeaways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965960" y="3977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summary of technical hurdles cleared, professional skills gained, and the future roadmap for the LMS.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STRATBEANS CONSULTING  |  SUMMER INTERNSHIP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Proficiency </a:t>
            </a: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1099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AC2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8562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PHP Logic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46120" y="1783080"/>
            <a:ext cx="7680960" cy="502920"/>
          </a:xfrm>
          <a:prstGeom prst="roundRect">
            <a:avLst>
              <a:gd name="adj" fmla="val 18182"/>
            </a:avLst>
          </a:prstGeom>
          <a:solidFill>
            <a:srgbClr val="E3E9EF"/>
          </a:solidFill>
          <a:ln/>
        </p:spPr>
      </p:sp>
      <p:sp>
        <p:nvSpPr>
          <p:cNvPr id="6" name="Shape 4"/>
          <p:cNvSpPr/>
          <p:nvPr/>
        </p:nvSpPr>
        <p:spPr>
          <a:xfrm>
            <a:off x="3246120" y="1783080"/>
            <a:ext cx="6528816" cy="502920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671816" y="18013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Proficient (85%)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UI/UX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2624328"/>
            <a:ext cx="7680960" cy="502920"/>
          </a:xfrm>
          <a:prstGeom prst="roundRect">
            <a:avLst>
              <a:gd name="adj" fmla="val 18182"/>
            </a:avLst>
          </a:prstGeom>
          <a:solidFill>
            <a:srgbClr val="E3E9EF"/>
          </a:solidFill>
          <a:ln/>
        </p:spPr>
      </p:sp>
      <p:sp>
        <p:nvSpPr>
          <p:cNvPr id="10" name="Shape 8"/>
          <p:cNvSpPr/>
          <p:nvPr/>
        </p:nvSpPr>
        <p:spPr>
          <a:xfrm>
            <a:off x="3246120" y="2624328"/>
            <a:ext cx="7296912" cy="502920"/>
          </a:xfrm>
          <a:prstGeom prst="roundRect">
            <a:avLst>
              <a:gd name="adj" fmla="val 18182"/>
            </a:avLst>
          </a:prstGeom>
          <a:solidFill>
            <a:srgbClr val="132A52"/>
          </a:solidFill>
          <a:ln/>
        </p:spPr>
      </p:sp>
      <p:sp>
        <p:nvSpPr>
          <p:cNvPr id="11" name="Text 9"/>
          <p:cNvSpPr/>
          <p:nvPr/>
        </p:nvSpPr>
        <p:spPr>
          <a:xfrm>
            <a:off x="8439912" y="264261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Proficient (95%)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68680" y="35387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Workflows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46120" y="3465576"/>
            <a:ext cx="7680960" cy="502920"/>
          </a:xfrm>
          <a:prstGeom prst="roundRect">
            <a:avLst>
              <a:gd name="adj" fmla="val 18182"/>
            </a:avLst>
          </a:prstGeom>
          <a:solidFill>
            <a:srgbClr val="E3E9EF"/>
          </a:solidFill>
          <a:ln/>
        </p:spPr>
      </p:sp>
      <p:sp>
        <p:nvSpPr>
          <p:cNvPr id="14" name="Shape 12"/>
          <p:cNvSpPr/>
          <p:nvPr/>
        </p:nvSpPr>
        <p:spPr>
          <a:xfrm>
            <a:off x="3246120" y="3465576"/>
            <a:ext cx="5760720" cy="502920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903720" y="348386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Competent (75%)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43799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Version Control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46120" y="4306824"/>
            <a:ext cx="7680960" cy="502920"/>
          </a:xfrm>
          <a:prstGeom prst="roundRect">
            <a:avLst>
              <a:gd name="adj" fmla="val 18182"/>
            </a:avLst>
          </a:prstGeom>
          <a:solidFill>
            <a:srgbClr val="E3E9E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46120" y="4306824"/>
            <a:ext cx="6912864" cy="502920"/>
          </a:xfrm>
          <a:prstGeom prst="roundRect">
            <a:avLst>
              <a:gd name="adj" fmla="val 18182"/>
            </a:avLst>
          </a:prstGeom>
          <a:solidFill>
            <a:srgbClr val="132A52"/>
          </a:solidFill>
          <a:ln/>
        </p:spPr>
      </p:sp>
      <p:sp>
        <p:nvSpPr>
          <p:cNvPr id="19" name="Text 17"/>
          <p:cNvSpPr/>
          <p:nvPr/>
        </p:nvSpPr>
        <p:spPr>
          <a:xfrm>
            <a:off x="8055864" y="43251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(90%)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394960"/>
            <a:ext cx="11109960" cy="822960"/>
          </a:xfrm>
          <a:prstGeom prst="roundRect">
            <a:avLst>
              <a:gd name="adj" fmla="val 11111"/>
            </a:avLst>
          </a:prstGeom>
          <a:solidFill>
            <a:srgbClr val="132A52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440680"/>
            <a:ext cx="10378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Navigating a massive, pre-existing enterprise codebase transformed my academic coding knowledge into real-world, full-stack software engineering capability.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STRATBEANS CONSULTING  |  SUMMER INTERNSHIP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32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2A52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-2286000"/>
            <a:ext cx="5486400" cy="548640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E8843A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6596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0632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8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 Questions &amp; Discussion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937760" y="3977640"/>
            <a:ext cx="22860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2062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Yash Agarwal  |  23119039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6177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Stratbeans Consulting  •  ECE, JIIT Noida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1317</Words>
  <Application>Microsoft Office PowerPoint</Application>
  <PresentationFormat>Widescreen</PresentationFormat>
  <Paragraphs>214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Windows User</cp:lastModifiedBy>
  <cp:revision>1</cp:revision>
  <dcterms:created xsi:type="dcterms:W3CDTF">2026-09-15T20:56:52Z</dcterms:created>
  <dcterms:modified xsi:type="dcterms:W3CDTF">2026-09-16T22:12:54Z</dcterms:modified>
</cp:coreProperties>
</file>